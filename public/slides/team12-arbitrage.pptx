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P&amp;L</c:v>
                </c:pt>
              </c:strCache>
            </c:strRef>
          </c:tx>
          <c:spPr>
            <a:solidFill>
              <a:srgbClr val="30D15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0D1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C3E-C440-8D26-80DF4FFA46FF}"/>
              </c:ext>
            </c:extLst>
          </c:dPt>
          <c:dPt>
            <c:idx val="1"/>
            <c:invertIfNegative val="0"/>
            <c:bubble3D val="0"/>
            <c:spPr>
              <a:solidFill>
                <a:srgbClr val="FF5C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3E-C440-8D26-80DF4FFA46FF}"/>
              </c:ext>
            </c:extLst>
          </c:dPt>
          <c:dPt>
            <c:idx val="2"/>
            <c:invertIfNegative val="0"/>
            <c:bubble3D val="0"/>
            <c:spPr>
              <a:solidFill>
                <a:srgbClr val="30D1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C3E-C440-8D26-80DF4FFA46FF}"/>
              </c:ext>
            </c:extLst>
          </c:dPt>
          <c:dLbls>
            <c:numFmt formatCode="\$#,##0;\(\$#,##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5ECF7"/>
                    </a:solidFill>
                    <a:latin typeface="Arial Black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 closed</c:v>
                </c:pt>
                <c:pt idx="1">
                  <c:v>Without Starmer</c:v>
                </c:pt>
                <c:pt idx="2">
                  <c:v>Strict clean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2354</c:v>
                </c:pt>
                <c:pt idx="1">
                  <c:v>-570</c:v>
                </c:pt>
                <c:pt idx="2">
                  <c:v>3349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C3E-C440-8D26-80DF4FFA46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E5ECF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431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6203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20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458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2026  ·  FINAL PROJECT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Cross-Market Arbitrage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23957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E5EC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Detecting Informed Trading from </a:t>
            </a:r>
            <a:r>
              <a:rPr lang="en-US" sz="2300" b="1" dirty="0">
                <a:solidFill>
                  <a:srgbClr val="7FB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Polymarket</a:t>
            </a:r>
            <a:r>
              <a:rPr lang="en-US" sz="2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→  </a:t>
            </a:r>
            <a:r>
              <a:rPr lang="en-US" sz="2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Kalshi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informed trader moves a price on a transparent market, the opaque one is slow to follow. That lag is measurable.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2468880" cy="105156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1,544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5559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4892040"/>
            <a:ext cx="2468880" cy="105156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5029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37560" y="5559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PAIRS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4892040"/>
            <a:ext cx="2468880" cy="105156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5029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5559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WALLETS SCORED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32520" y="4892040"/>
            <a:ext cx="2468880" cy="105156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32520" y="5029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732520" y="5559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 LIVE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 adapted from Mitts &amp; Ofir (SSRN 6426778, 2026)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asymmetry between two prediction markets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46888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2296" cy="2468880"/>
          </a:xfrm>
          <a:prstGeom prst="rect">
            <a:avLst/>
          </a:prstGeom>
          <a:solidFill>
            <a:srgbClr val="4D8D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7568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FB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POLYMARKET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554480" y="24414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Transparent · on-chain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292608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wallet address and every trade is public.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insider can't hide — their trades move the price.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wallet-level order flow.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82512" y="1783080"/>
            <a:ext cx="5349240" cy="246888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82512" y="1783080"/>
            <a:ext cx="82296" cy="24688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07568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20574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KALSHI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296912" y="24414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Opaque · regulated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702552" y="292608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trade data is private.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prices are public — but update slower.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purely as a price series to measure against.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572000"/>
            <a:ext cx="10911535" cy="1051560"/>
          </a:xfrm>
          <a:prstGeom prst="rect">
            <a:avLst/>
          </a:prstGeom>
          <a:solidFill>
            <a:srgbClr val="1B2742"/>
          </a:solidFill>
          <a:ln w="16510">
            <a:solidFill>
              <a:srgbClr val="1E9E45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005840" y="45720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asymmetry is the opportunity.   </a:t>
            </a:r>
            <a:r>
              <a:rPr lang="en-US" sz="14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with non-public information trades Polymarket first, a price gap opens before Kalshi reprices. The system detects that gap, flags the likely-informed wallet, and paper-trades the Kalshi side.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detection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84832" cy="274320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98448" y="2258568"/>
            <a:ext cx="768096" cy="768096"/>
          </a:xfrm>
          <a:prstGeom prst="ellipse">
            <a:avLst/>
          </a:prstGeom>
          <a:solidFill>
            <a:srgbClr val="1B2742"/>
          </a:solidFill>
          <a:ln w="16510">
            <a:solidFill>
              <a:srgbClr val="4D8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242316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112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D8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49808" y="317296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wallets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86384" y="372160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 wallets rated on 5 informed-trading signals → Layer 1 watchlist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06624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43784" y="1965960"/>
            <a:ext cx="2084832" cy="274320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02152" y="2258568"/>
            <a:ext cx="768096" cy="768096"/>
          </a:xfrm>
          <a:prstGeom prst="ellipse">
            <a:avLst/>
          </a:prstGeom>
          <a:solidFill>
            <a:srgbClr val="1B2742"/>
          </a:solidFill>
          <a:ln w="16510">
            <a:solidFill>
              <a:srgbClr val="4D8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242316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53512" y="2112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D8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953512" y="317296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Poll every 5 min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2990088" y="372160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large trades by watchlist wallets, plus outsized one-offs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10328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047488" y="1965960"/>
            <a:ext cx="2084832" cy="274320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705856" y="2258568"/>
            <a:ext cx="768096" cy="768096"/>
          </a:xfrm>
          <a:prstGeom prst="ellipse">
            <a:avLst/>
          </a:prstGeom>
          <a:solidFill>
            <a:srgbClr val="1B2742"/>
          </a:solidFill>
          <a:ln w="16510">
            <a:solidFill>
              <a:srgbClr val="4D8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423160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57216" y="2112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D8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5157216" y="317296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venues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5193792" y="372160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 priced differently on Kalshi → a signal fires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114032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7251192" y="1965960"/>
            <a:ext cx="2084832" cy="274320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909560" y="2258568"/>
            <a:ext cx="768096" cy="768096"/>
          </a:xfrm>
          <a:prstGeom prst="ellipse">
            <a:avLst/>
          </a:prstGeom>
          <a:solidFill>
            <a:srgbClr val="1B2742"/>
          </a:solidFill>
          <a:ln w="16510">
            <a:solidFill>
              <a:srgbClr val="4D8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2423160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60920" y="2112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D8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360920" y="317296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Paper-trade Kalshi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7397496" y="372160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position in the direction of the Polymarket signal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317736" y="2834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9454896" y="1965960"/>
            <a:ext cx="2084832" cy="274320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10113264" y="2258568"/>
            <a:ext cx="768096" cy="768096"/>
          </a:xfrm>
          <a:prstGeom prst="ellipse">
            <a:avLst/>
          </a:prstGeom>
          <a:solidFill>
            <a:srgbClr val="1B2742"/>
          </a:solidFill>
          <a:ln w="16510">
            <a:solidFill>
              <a:srgbClr val="4D8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0" y="2423160"/>
            <a:ext cx="420624" cy="4206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564624" y="21122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D8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9564624" y="317296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on catch-up</a:t>
            </a:r>
            <a:endParaRPr lang="en-US" sz="1450" dirty="0"/>
          </a:p>
        </p:txBody>
      </p:sp>
      <p:sp>
        <p:nvSpPr>
          <p:cNvPr id="37" name="Text 30"/>
          <p:cNvSpPr/>
          <p:nvPr/>
        </p:nvSpPr>
        <p:spPr>
          <a:xfrm>
            <a:off x="9601200" y="3721608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when Kalshi converges within 3¢ (or expire)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40080" y="5074920"/>
            <a:ext cx="10911535" cy="105156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1005840" y="507492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F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run in parallel.   </a:t>
            </a: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= known smart wallets. Layer 2 = any single trade &gt;1% of volume in an illiquid market (&lt;$150k). P&amp;L is tracked separately to see which layer is the better signal.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PROCESS &amp;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in milestones on a lean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2523744"/>
            <a:ext cx="9997135" cy="0"/>
          </a:xfrm>
          <a:prstGeom prst="line">
            <a:avLst/>
          </a:prstGeom>
          <a:noFill/>
          <a:ln w="254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5256" y="2331720"/>
            <a:ext cx="384048" cy="384048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05256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71445" y="2331720"/>
            <a:ext cx="384048" cy="384048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71445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06269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23389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Lead-lag PoC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37634" y="2331720"/>
            <a:ext cx="384048" cy="384048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37634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2458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89578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03824" y="2331720"/>
            <a:ext cx="384048" cy="384048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03824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38648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55768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70013" y="2331720"/>
            <a:ext cx="384048" cy="384048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70013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04837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21957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36202" y="2331720"/>
            <a:ext cx="384048" cy="384048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36202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71026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88146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paper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902391" y="2331720"/>
            <a:ext cx="384048" cy="384048"/>
          </a:xfrm>
          <a:prstGeom prst="ellipse">
            <a:avLst/>
          </a:prstGeom>
          <a:solidFill>
            <a:srgbClr val="16203A"/>
          </a:solidFill>
          <a:ln w="1651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37215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454335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6576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dashboard scaffolded, not yet wired up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160520"/>
            <a:ext cx="5349240" cy="205740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0080" y="4160520"/>
            <a:ext cx="82296" cy="20574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" y="43891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STACK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0120" y="484632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SQLite (single file, 5 tables)  ·  Flask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Railway — Flask serves a health check while a background thread runs the 5-minute polling loop.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82512" y="4160520"/>
            <a:ext cx="5349240" cy="205740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82512" y="4160520"/>
            <a:ext cx="82296" cy="2057400"/>
          </a:xfrm>
          <a:prstGeom prst="rect">
            <a:avLst/>
          </a:prstGeom>
          <a:solidFill>
            <a:srgbClr val="4D8D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02552" y="43891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B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MARKET-PAIR DISCOVERY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02552" y="484632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~2,200 Kalshi markets  +  Polymarket  →  keyword pre-filter  →  Claude Haiku semantic scoring  →  1:1 dedup  →  human review queue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 BASIS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Adapting an informed-trading framework cross-platform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429768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2296" cy="4297680"/>
          </a:xfrm>
          <a:prstGeom prst="rect">
            <a:avLst/>
          </a:prstGeom>
          <a:solidFill>
            <a:srgbClr val="30D1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57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391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METHODOLOGY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54480" y="23317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Mitts &amp; Ofir — “From Iran to Taylor Swift: Informed Trading in Prediction Markets”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29535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SSRN 6426778 ·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33832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5-signal composite score per wallet: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0120" y="374904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1B2742"/>
          </a:solidFill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9728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1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size vs. market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0" y="374904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1B2742"/>
          </a:solidFill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5196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1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size vs. own history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60120" y="420624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1B2742"/>
          </a:solidFill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9728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1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114800" y="420624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1B2742"/>
          </a:solidFill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25196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1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Pre-event timing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60120" y="466344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1B2742"/>
          </a:solidFill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97280" y="4663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1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concentration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60120" y="54406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flagged wallets: </a:t>
            </a:r>
            <a:r>
              <a:rPr lang="en-US" sz="125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69.9% win rate, 60+ SD above chance, ~$143M anomalous profit.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799832" y="1783080"/>
            <a:ext cx="3751783" cy="429768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074152" y="2057400"/>
            <a:ext cx="3203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74152" y="2350008"/>
            <a:ext cx="32031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Gómez-Cram, Guo, Jensen &amp; Kung — “Crowd Wisdom or Informed Minority?”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74152" y="3200400"/>
            <a:ext cx="3203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SSRN 6617059 · 2026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074152" y="3657600"/>
            <a:ext cx="32031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7FB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98,906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8074152" y="3959352"/>
            <a:ext cx="32031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074152" y="4224528"/>
            <a:ext cx="32031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7FB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$13.76B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8074152" y="4526280"/>
            <a:ext cx="32031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074152" y="4791456"/>
            <a:ext cx="32031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7FB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1.72M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8074152" y="5093208"/>
            <a:ext cx="32031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074152" y="5358384"/>
            <a:ext cx="32031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7FB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~3.14%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8074152" y="5660136"/>
            <a:ext cx="32031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FLAGGED “SKILLED”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HEADLINE RESULT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the data, and the edge sharpens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274320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82296" cy="2743200"/>
          </a:xfrm>
          <a:prstGeom prst="rect">
            <a:avLst/>
          </a:prstGeom>
          <a:solidFill>
            <a:srgbClr val="4D8D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305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MARKETS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4D8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$2,354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33558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PAPER P&amp;L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2971800" cy="0"/>
          </a:xfrm>
          <a:prstGeom prst="line">
            <a:avLst/>
          </a:prstGeom>
          <a:noFill/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867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 </a:t>
            </a:r>
            <a:r>
              <a:rPr lang="en-US" sz="14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 </a:t>
            </a:r>
            <a:r>
              <a:rPr lang="en-US" sz="12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(didn't converge)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43984" y="1874520"/>
            <a:ext cx="3520440" cy="274320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43984" y="1874520"/>
            <a:ext cx="82296" cy="27432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18304" y="21305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EXCL. NOISE MARKET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8304" y="2651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$2,814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718304" y="33558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PAPER P&amp;L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18304" y="3749040"/>
            <a:ext cx="2971800" cy="0"/>
          </a:xfrm>
          <a:prstGeom prst="line">
            <a:avLst/>
          </a:prstGeom>
          <a:noFill/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18304" y="3867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 </a:t>
            </a:r>
            <a:r>
              <a:rPr lang="en-US" sz="14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18304" y="4206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 </a:t>
            </a:r>
            <a:r>
              <a:rPr lang="en-US" sz="12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(didn't converge)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47888" y="1874520"/>
            <a:ext cx="3520440" cy="274320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47888" y="1874520"/>
            <a:ext cx="82296" cy="2743200"/>
          </a:xfrm>
          <a:prstGeom prst="rect">
            <a:avLst/>
          </a:prstGeom>
          <a:solidFill>
            <a:srgbClr val="30D1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22208" y="21305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 (EXCL. NOISE + IRAN)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22208" y="2651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$3,349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522208" y="33558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PAPER P&amp;L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22208" y="3749040"/>
            <a:ext cx="2971800" cy="0"/>
          </a:xfrm>
          <a:prstGeom prst="line">
            <a:avLst/>
          </a:prstGeom>
          <a:noFill/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22208" y="38679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 </a:t>
            </a:r>
            <a:r>
              <a:rPr lang="en-US" sz="14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22208" y="4206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 </a:t>
            </a:r>
            <a:r>
              <a:rPr lang="en-US" sz="12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(didn't converge)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983480"/>
            <a:ext cx="10911535" cy="109728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05840" y="498348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is real — but data quality dominates.   </a:t>
            </a: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one mismatched market lifts the win rate from 62% to 80%. The flip side: across everything, </a:t>
            </a: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of signals expired without converging.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#1  ·  THE HOME RUN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Starmer trade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Keir Starmer leave office by July 2026?”  </a:t>
            </a:r>
            <a:r>
              <a:rPr lang="en-US" sz="13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 13 wallet burst priced Polymarket at </a:t>
            </a:r>
            <a:r>
              <a:rPr lang="en-US" sz="1350" b="1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66%</a:t>
            </a:r>
            <a:r>
              <a:rPr lang="en-US" sz="13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Kalshi </a:t>
            </a:r>
            <a:r>
              <a:rPr lang="en-US" sz="13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32%</a:t>
            </a:r>
            <a:r>
              <a:rPr lang="en-US" sz="13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34¢ gap Kalshi took ~4.5 days to close.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4040" y="1764792"/>
            <a:ext cx="10643616" cy="4084551"/>
          </a:xfrm>
          <a:prstGeom prst="rect">
            <a:avLst/>
          </a:prstGeom>
          <a:solidFill>
            <a:srgbClr val="FFFFFF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starmer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1874520"/>
            <a:ext cx="10424160" cy="38650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734599" y="1920901"/>
            <a:ext cx="604601" cy="27055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83768" y="6032223"/>
            <a:ext cx="2516886" cy="603504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84936" y="6032223"/>
            <a:ext cx="22425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$2,924   </a:t>
            </a:r>
            <a:r>
              <a:rPr lang="en-US" sz="95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P&amp;L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519526" y="6032223"/>
            <a:ext cx="2516886" cy="603504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720694" y="6032223"/>
            <a:ext cx="22425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90.7%   </a:t>
            </a:r>
            <a:r>
              <a:rPr lang="en-US" sz="95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RATE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55284" y="6032223"/>
            <a:ext cx="2516886" cy="603504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56452" y="6032223"/>
            <a:ext cx="22425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118   </a:t>
            </a:r>
            <a:r>
              <a:rPr lang="en-US" sz="95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TRADES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791042" y="6032223"/>
            <a:ext cx="2516886" cy="603504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992210" y="6032223"/>
            <a:ext cx="22425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1.43   </a:t>
            </a:r>
            <a:r>
              <a:rPr lang="en-US" sz="95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SHARPE-LIKE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#1  ·  INTRADAY DETAIL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Polymarket leads, Kalshi lags — trade by trade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26464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bursts lift Polymarket first; Kalshi (orange = real fills) catches up hours later.  </a:t>
            </a:r>
            <a:r>
              <a:rPr lang="en-US" sz="120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band = open arbitrage window.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2720" y="1901952"/>
            <a:ext cx="8906256" cy="4796274"/>
          </a:xfrm>
          <a:prstGeom prst="rect">
            <a:avLst/>
          </a:prstGeom>
          <a:solidFill>
            <a:srgbClr val="FFFFFF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starmer_intra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48" y="2011680"/>
            <a:ext cx="8686800" cy="45768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BRUTAL TRUTH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trade carried almost everything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035040" cy="402336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75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CLOSED P&amp;L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242316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086600" y="2011680"/>
            <a:ext cx="4465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$2,924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086600" y="2651760"/>
            <a:ext cx="4465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Starmer's share of the $2,354 net total. Everything else combined was −$570.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86600" y="3657600"/>
            <a:ext cx="4465015" cy="0"/>
          </a:xfrm>
          <a:prstGeom prst="line">
            <a:avLst/>
          </a:prstGeom>
          <a:noFill/>
          <a:ln w="12700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86600" y="3794760"/>
            <a:ext cx="4465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Starmer: 346 closed trades, 52.3% win rate, net loss.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86600" y="4480560"/>
            <a:ext cx="4465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event-driven arbitrage works.</a:t>
            </a:r>
            <a:r>
              <a:rPr lang="en-US" sz="13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 flat most days and capitalize on the occasional high-conviction setup. The real question: will the infrastructure catch the next one?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#2  ·  THE REPEATABLE ENGINE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Hormuz — the scalable version of the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141732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1828800"/>
            <a:ext cx="2651760" cy="141732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2057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6616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2651760" cy="141732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EXPIRY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3520440"/>
            <a:ext cx="2651760" cy="141732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3749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91.9%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566160" y="4434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3A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$683</a:t>
            </a:r>
            <a:r>
              <a:rPr lang="en-US" sz="15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P&amp;L     </a:t>
            </a:r>
            <a:r>
              <a:rPr lang="en-US" sz="15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1.14</a:t>
            </a:r>
            <a:r>
              <a:rPr lang="en-US" sz="15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Sharpe-like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75120" y="1828800"/>
            <a:ext cx="4876495" cy="406908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75120" y="1828800"/>
            <a:ext cx="82296" cy="406908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2084832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2450592"/>
            <a:ext cx="4236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story.  </a:t>
            </a: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market was the project's M1 proof-of-concept — the first place the lead-lag signal was confirmed. On May 6, Kalshi sat at 0.17 while Polymarket spiked to 0.435; Kalshi only partially caught up.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995160" y="3794760"/>
            <a:ext cx="4236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not a one-off.  </a:t>
            </a: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Starmer's single spike, Hormuz produced consistent, near-zero-expiry convergence: only 2 of 147 signals expired.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95160" y="5120640"/>
            <a:ext cx="4236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Caveat:  </a:t>
            </a:r>
            <a:r>
              <a:rPr lang="en-US" sz="12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Hormuz contract window lost money (18.8% win rate). Contract selection matters.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SIGNAL LOOKS LIKE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findings consistent with informed trading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6596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82296" cy="1965960"/>
          </a:xfrm>
          <a:prstGeom prst="rect">
            <a:avLst/>
          </a:prstGeom>
          <a:solidFill>
            <a:srgbClr val="30D1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121408"/>
            <a:ext cx="640080" cy="640080"/>
          </a:xfrm>
          <a:prstGeom prst="ellipse">
            <a:avLst/>
          </a:prstGeom>
          <a:solidFill>
            <a:srgbClr val="1B2742"/>
          </a:solidFill>
          <a:ln w="1524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2585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103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 is concentrated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160520" y="2121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70.6%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737360" y="26700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wallets drive most of the gross profit — the fingerprint of a small informed group.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82512" y="1828800"/>
            <a:ext cx="5349240" cy="196596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82512" y="1828800"/>
            <a:ext cx="82296" cy="1965960"/>
          </a:xfrm>
          <a:prstGeom prst="rect">
            <a:avLst/>
          </a:prstGeom>
          <a:solidFill>
            <a:srgbClr val="4D8D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75120" y="2121408"/>
            <a:ext cx="640080" cy="640080"/>
          </a:xfrm>
          <a:prstGeom prst="ellipse">
            <a:avLst/>
          </a:prstGeom>
          <a:solidFill>
            <a:srgbClr val="1B2742"/>
          </a:solidFill>
          <a:ln w="15240">
            <a:solidFill>
              <a:srgbClr val="4D8D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25856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79792" y="2103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has a sweet spot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9902952" y="2121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4D8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0.65+ → 0%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479792" y="26700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0.55–0.60 win 79% of the time. Above 0.65, performance collapses entirely.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4114800"/>
            <a:ext cx="5349240" cy="196596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40080" y="4114800"/>
            <a:ext cx="82296" cy="19659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32688" y="4407408"/>
            <a:ext cx="640080" cy="640080"/>
          </a:xfrm>
          <a:prstGeom prst="ellipse">
            <a:avLst/>
          </a:prstGeom>
          <a:solidFill>
            <a:srgbClr val="1B2742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54456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89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Slower is more profitable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4160520" y="4407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 vs $1.80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737360" y="49560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closing in 3–7 days averaged $20 each; sub-30-minute closes averaged just $1.80.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382512" y="4114800"/>
            <a:ext cx="5349240" cy="196596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382512" y="4114800"/>
            <a:ext cx="82296" cy="196596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675120" y="4407408"/>
            <a:ext cx="640080" cy="640080"/>
          </a:xfrm>
          <a:prstGeom prst="ellipse">
            <a:avLst/>
          </a:prstGeom>
          <a:solidFill>
            <a:srgbClr val="1B2742"/>
          </a:solidFill>
          <a:ln w="1524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4544568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79792" y="4389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Time-of-day matters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902952" y="4407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88% vs ~10%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7479792" y="49560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at the European open (07:00 UTC) converge 88% of the time; US-afternoon fires, 3–13%.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 NOISE CAME FROM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 of expired trades came from two bad matches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74320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82296" cy="2743200"/>
          </a:xfrm>
          <a:prstGeom prst="rect">
            <a:avLst/>
          </a:prstGeom>
          <a:solidFill>
            <a:srgbClr val="FF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0848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CUT — STRUCTURAL MISMATCH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3957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420 signals — all noise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 priced </a:t>
            </a:r>
            <a:r>
              <a:rPr lang="en-US" sz="130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P(zero cuts) ≈ 0.32</a:t>
            </a:r>
            <a:r>
              <a:rPr lang="en-US" sz="13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Kalshi priced </a:t>
            </a:r>
            <a:r>
              <a:rPr lang="en-US" sz="1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P(≥1 cut) ≈ 0.65</a:t>
            </a:r>
            <a:r>
              <a:rPr lang="en-US" sz="13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These are complements — the 33¢ “gap” is permanent and fake. The system was trading against itself.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−$460 booked  ·  88% expired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82512" y="1828800"/>
            <a:ext cx="5349240" cy="274320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82512" y="1828800"/>
            <a:ext cx="82296" cy="2743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02552" y="20848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US–IRAN AGREEMENT — STRUCTURAL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02552" y="23957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~25¢ gap that never converged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02552" y="28803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 priced the Iran deal ~25¢ above Kalshi across six separate weeks. Likely different resolution definitions (“any deal announced” vs “formally signed”) — venue-level divergence, not a timing lag.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02552" y="4114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−$535 booked across both Iran contracts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911535" cy="914400"/>
          </a:xfrm>
          <a:prstGeom prst="rect">
            <a:avLst/>
          </a:prstGeom>
          <a:solidFill>
            <a:srgbClr val="16203A"/>
          </a:solidFill>
          <a:ln w="16510">
            <a:solidFill>
              <a:srgbClr val="1E9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84632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cheap.  </a:t>
            </a: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matched on keyword similarity without checking contract direction. A single direction-check would have prevented ~$460 in losses and 600+ junk signals polluting the metrics.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CONCLUDING THOUGHTS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edge is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109728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21408"/>
            <a:ext cx="512064" cy="512064"/>
          </a:xfrm>
          <a:prstGeom prst="ellipse">
            <a:avLst/>
          </a:prstGeom>
          <a:solidFill>
            <a:srgbClr val="1B2742"/>
          </a:solidFill>
          <a:ln w="1524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2311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96313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lead-lag effect is real.  </a:t>
            </a: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80–91% win rates on the cleanest markets aren't chance. Kalshi demonstrably lags Polymarket when informed wallets move prices.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10911535" cy="109728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14400" y="3401568"/>
            <a:ext cx="512064" cy="512064"/>
          </a:xfrm>
          <a:prstGeom prst="ellipse">
            <a:avLst/>
          </a:prstGeom>
          <a:solidFill>
            <a:srgbClr val="1B2742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5112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108960"/>
            <a:ext cx="96313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edge is fragile.  </a:t>
            </a:r>
            <a:r>
              <a:rPr lang="en-US" sz="135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lives in a handful of wallets and a handful of events, and it evaporates with bad contract matching or tight time windows.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389120"/>
            <a:ext cx="10911535" cy="1417320"/>
          </a:xfrm>
          <a:prstGeom prst="rect">
            <a:avLst/>
          </a:prstGeom>
          <a:solidFill>
            <a:srgbClr val="1B2742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40080" y="4389120"/>
            <a:ext cx="82296" cy="1417320"/>
          </a:xfrm>
          <a:prstGeom prst="rect">
            <a:avLst/>
          </a:prstGeom>
          <a:solidFill>
            <a:srgbClr val="30D1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634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ENTRY FILTER FOUND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508760" y="49194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7–30¢   ·   wallet score 0.55–0.65   ·   trade size $50–$5k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08760" y="53218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80.8% win rate · $20 avg/trade · </a:t>
            </a:r>
            <a:r>
              <a:rPr lang="en-US" sz="1250" b="1" dirty="0">
                <a:solidFill>
                  <a:srgbClr val="30D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Sharpe-like 1.15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CAVEATS &amp; RISKS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analysis does not prove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41732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8920" y="20208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FB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Hypothetical paper trading only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508760" y="242316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execution costs, slippage, or Kalshi liquidity modeled. Real fills would erode the edge in thin markets.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82512" y="1783080"/>
            <a:ext cx="5349240" cy="141732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0574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51192" y="20208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Tiny sample, short window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251192" y="242316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days; nearly all P&amp;L from a single event. Not yet statistically robust.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474720"/>
            <a:ext cx="5349240" cy="141732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490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7124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 ≠ insider causation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508760" y="41148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Lead-lag could reflect liquidity or attention differences, not non-public information.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82512" y="3474720"/>
            <a:ext cx="5349240" cy="1417320"/>
          </a:xfrm>
          <a:prstGeom prst="rect">
            <a:avLst/>
          </a:prstGeom>
          <a:solidFill>
            <a:srgbClr val="16203A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37490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51192" y="37124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64% expiry rate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251192" y="41148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signals never converge; selection and survivorship effects flatter the headline numbers.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184648"/>
            <a:ext cx="10911535" cy="1188720"/>
          </a:xfrm>
          <a:prstGeom prst="rect">
            <a:avLst/>
          </a:prstGeom>
          <a:solidFill>
            <a:srgbClr val="1B2742"/>
          </a:solidFill>
          <a:ln w="12700">
            <a:solidFill>
              <a:srgbClr val="24314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40080" y="5184648"/>
            <a:ext cx="82296" cy="1188720"/>
          </a:xfrm>
          <a:prstGeom prst="rect">
            <a:avLst/>
          </a:prstGeom>
          <a:solidFill>
            <a:srgbClr val="FF5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68696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5184648"/>
            <a:ext cx="9677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ethical exposure.  </a:t>
            </a:r>
            <a:r>
              <a:rPr lang="en-US" sz="1300" dirty="0">
                <a:solidFill>
                  <a:srgbClr val="E5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on others' suspected inside information raises CFTC, market-manipulation, and Kalshi terms-of-service questions, plus KYC and geographic restrictions. Real execution is a different risk regime than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STEPS  ·  MAKING IT ACTIONABLE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prototype to a validated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39112"/>
            <a:ext cx="566928" cy="566928"/>
          </a:xfrm>
          <a:prstGeom prst="ellipse">
            <a:avLst/>
          </a:prstGeom>
          <a:solidFill>
            <a:srgbClr val="16203A"/>
          </a:solidFill>
          <a:ln w="1778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10042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discovery first   </a:t>
            </a:r>
            <a:r>
              <a:rPr lang="en-US" sz="14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contract-direction check. Would have prevented ~$460 in losses + 600 junk signals.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08760" y="2770632"/>
            <a:ext cx="10042855" cy="0"/>
          </a:xfrm>
          <a:prstGeom prst="line">
            <a:avLst/>
          </a:prstGeom>
          <a:noFill/>
          <a:ln w="9525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66928" cy="566928"/>
          </a:xfrm>
          <a:prstGeom prst="ellipse">
            <a:avLst/>
          </a:prstGeom>
          <a:solidFill>
            <a:srgbClr val="16203A"/>
          </a:solidFill>
          <a:ln w="1778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08760" y="2807208"/>
            <a:ext cx="10042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ground truth   </a:t>
            </a:r>
            <a:r>
              <a:rPr lang="en-US" sz="14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 every paper trade against actual resolutions for realized, not paper, P&amp;L.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08760" y="3611880"/>
            <a:ext cx="10042855" cy="0"/>
          </a:xfrm>
          <a:prstGeom prst="line">
            <a:avLst/>
          </a:prstGeom>
          <a:noFill/>
          <a:ln w="9525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3721608"/>
            <a:ext cx="566928" cy="566928"/>
          </a:xfrm>
          <a:prstGeom prst="ellipse">
            <a:avLst/>
          </a:prstGeom>
          <a:solidFill>
            <a:srgbClr val="16203A"/>
          </a:solidFill>
          <a:ln w="1778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21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08760" y="3648456"/>
            <a:ext cx="10042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Wallet-graph analysis   </a:t>
            </a:r>
            <a:r>
              <a:rPr lang="en-US" sz="14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co-trading clusters where insiders use multiple wallets; treat the cluster as the unit.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08760" y="4453128"/>
            <a:ext cx="10042855" cy="0"/>
          </a:xfrm>
          <a:prstGeom prst="line">
            <a:avLst/>
          </a:prstGeom>
          <a:noFill/>
          <a:ln w="9525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4562856"/>
            <a:ext cx="566928" cy="566928"/>
          </a:xfrm>
          <a:prstGeom prst="ellipse">
            <a:avLst/>
          </a:prstGeom>
          <a:solidFill>
            <a:srgbClr val="16203A"/>
          </a:solidFill>
          <a:ln w="1778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562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08760" y="4489704"/>
            <a:ext cx="10042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M6 dashboard   </a:t>
            </a:r>
            <a:r>
              <a:rPr lang="en-US" sz="14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of events, watchlist, and cumulative P&amp;L by layer.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508760" y="5294376"/>
            <a:ext cx="10042855" cy="0"/>
          </a:xfrm>
          <a:prstGeom prst="line">
            <a:avLst/>
          </a:prstGeom>
          <a:noFill/>
          <a:ln w="9525">
            <a:solidFill>
              <a:srgbClr val="243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5404104"/>
            <a:ext cx="566928" cy="566928"/>
          </a:xfrm>
          <a:prstGeom prst="ellipse">
            <a:avLst/>
          </a:prstGeom>
          <a:solidFill>
            <a:srgbClr val="16203A"/>
          </a:solidFill>
          <a:ln w="17780">
            <a:solidFill>
              <a:srgbClr val="30D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5404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508760" y="5330952"/>
            <a:ext cx="100428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then, real execution   </a:t>
            </a:r>
            <a:r>
              <a:rPr lang="en-US" sz="1400" dirty="0">
                <a:solidFill>
                  <a:srgbClr val="93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position sizing for liquidity and signal confidence. Put money behind our analysis.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1574</Words>
  <Application>Microsoft Macintosh PowerPoint</Application>
  <PresentationFormat>Widescreen</PresentationFormat>
  <Paragraphs>219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Cross-Market Arbitrage</dc:title>
  <dc:subject>PptxGenJS Presentation</dc:subject>
  <dc:creator>Ethan</dc:creator>
  <cp:lastModifiedBy>Ethan Romer</cp:lastModifiedBy>
  <cp:revision>4</cp:revision>
  <dcterms:created xsi:type="dcterms:W3CDTF">2026-06-01T15:48:53Z</dcterms:created>
  <dcterms:modified xsi:type="dcterms:W3CDTF">2026-06-01T16:03:31Z</dcterms:modified>
</cp:coreProperties>
</file>